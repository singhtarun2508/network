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•  UNIT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and TCP/IP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Models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and Their Functions  •  Comparison of the Two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Textbooks:  TB1 — Tanenbaum, Feamster &amp; Wetherall, "Computer Networks", 6th Ed.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 — Behrouz A. Forouzan, "Data Communications and Networking", 5th 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77393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Layered Model?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behind dividing network tasks into layers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09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layers, from physical bits to user applications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39319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Layers 1–4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885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data link, network &amp; transport in detail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837176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" y="501091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Layers 5–7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675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presentation &amp; application layers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3096" y="177393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7804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TCP/IP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2130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suite that actually runs the Internet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679192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Layers &amp; Protocols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3209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real protocols to each layer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75818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3096" y="39319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7804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Encapsulation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78040" y="42885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message becomes bits, layer by layer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837176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483096" y="501091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483096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78040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vs. TCP/IP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78040" y="53675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two models &amp; comparing them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Layered Model?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complex task. Instead of solving it as one giant problem, it is divided into several smaller, manageable layers — each layer handling one part of the job.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2724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992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performs a specific, well-defined set of duties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71246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844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offers services to the layer above it, and uses services from the layer below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6966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interfaces exist between adjacent layers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88289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7548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inside one layer should not require changes in other layers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6916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0" y="16916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2080260"/>
            <a:ext cx="1463040" cy="0"/>
          </a:xfrm>
          <a:prstGeom prst="line">
            <a:avLst/>
          </a:prstGeom>
          <a:noFill/>
          <a:ln w="19050">
            <a:solidFill>
              <a:srgbClr val="D7E4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452360" y="2468880"/>
            <a:ext cx="0" cy="182880"/>
          </a:xfrm>
          <a:prstGeom prst="line">
            <a:avLst/>
          </a:prstGeom>
          <a:noFill/>
          <a:ln w="15875">
            <a:solidFill>
              <a:srgbClr val="5B6B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35640" y="2468880"/>
            <a:ext cx="0" cy="182880"/>
          </a:xfrm>
          <a:prstGeom prst="line">
            <a:avLst/>
          </a:prstGeom>
          <a:noFill/>
          <a:ln w="15875">
            <a:solidFill>
              <a:srgbClr val="5B6B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651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651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75520" y="2651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2651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3040380"/>
            <a:ext cx="1463040" cy="0"/>
          </a:xfrm>
          <a:prstGeom prst="line">
            <a:avLst/>
          </a:prstGeom>
          <a:noFill/>
          <a:ln w="19050">
            <a:solidFill>
              <a:srgbClr val="D7E4E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452360" y="3429000"/>
            <a:ext cx="0" cy="182880"/>
          </a:xfrm>
          <a:prstGeom prst="line">
            <a:avLst/>
          </a:prstGeom>
          <a:noFill/>
          <a:ln w="15875">
            <a:solidFill>
              <a:srgbClr val="5B6B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35640" y="3429000"/>
            <a:ext cx="0" cy="182880"/>
          </a:xfrm>
          <a:prstGeom prst="line">
            <a:avLst/>
          </a:prstGeom>
          <a:noFill/>
          <a:ln w="15875">
            <a:solidFill>
              <a:srgbClr val="5B6B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6118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611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75520" y="36118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3611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12480" y="4000500"/>
            <a:ext cx="1463040" cy="0"/>
          </a:xfrm>
          <a:prstGeom prst="line">
            <a:avLst/>
          </a:prstGeom>
          <a:noFill/>
          <a:ln w="19050">
            <a:solidFill>
              <a:srgbClr val="D7E4E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49224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52360" y="4389120"/>
            <a:ext cx="33832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526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medium (actual communication path)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One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ISO (International Organization for Standardization), the Open Systems Interconnection model is a reference framework describing how information moves from one device, through a network, to another.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2103120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3127248" y="215569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127248" y="21556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pic>
        <p:nvPicPr>
          <p:cNvPr id="8" name="Image 0" descr="/home/claude/proj/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218313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23360" y="2103120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2638044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3127248" y="269062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127248" y="26906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pic>
        <p:nvPicPr>
          <p:cNvPr id="13" name="Image 1" descr="/home/claude/proj/icons/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71805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2638044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017520" y="3172968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1C7293"/>
          </a:solidFill>
          <a:ln/>
        </p:spPr>
      </p:sp>
      <p:sp>
        <p:nvSpPr>
          <p:cNvPr id="16" name="Shape 12"/>
          <p:cNvSpPr/>
          <p:nvPr/>
        </p:nvSpPr>
        <p:spPr>
          <a:xfrm>
            <a:off x="3127248" y="322554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3127248" y="32255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pic>
        <p:nvPicPr>
          <p:cNvPr id="18" name="Image 2" descr="/home/claude/proj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325297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23360" y="3172968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017520" y="3707892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21295C"/>
          </a:solidFill>
          <a:ln/>
        </p:spPr>
      </p:sp>
      <p:sp>
        <p:nvSpPr>
          <p:cNvPr id="21" name="Shape 16"/>
          <p:cNvSpPr/>
          <p:nvPr/>
        </p:nvSpPr>
        <p:spPr>
          <a:xfrm>
            <a:off x="3127248" y="376047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7"/>
          <p:cNvSpPr/>
          <p:nvPr/>
        </p:nvSpPr>
        <p:spPr>
          <a:xfrm>
            <a:off x="3127248" y="37604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pic>
        <p:nvPicPr>
          <p:cNvPr id="23" name="Image 3" descr="/home/claude/proj/icons/dupl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78790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23360" y="3707892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3017520" y="4242816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065A82"/>
          </a:solidFill>
          <a:ln/>
        </p:spPr>
      </p:sp>
      <p:sp>
        <p:nvSpPr>
          <p:cNvPr id="26" name="Shape 20"/>
          <p:cNvSpPr/>
          <p:nvPr/>
        </p:nvSpPr>
        <p:spPr>
          <a:xfrm>
            <a:off x="3127248" y="429539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1"/>
          <p:cNvSpPr/>
          <p:nvPr/>
        </p:nvSpPr>
        <p:spPr>
          <a:xfrm>
            <a:off x="3127248" y="42953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pic>
        <p:nvPicPr>
          <p:cNvPr id="28" name="Image 4" descr="/home/claude/proj/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32282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23360" y="4242816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3017520" y="4777740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1C7293"/>
          </a:solidFill>
          <a:ln/>
        </p:spPr>
      </p:sp>
      <p:sp>
        <p:nvSpPr>
          <p:cNvPr id="31" name="Shape 24"/>
          <p:cNvSpPr/>
          <p:nvPr/>
        </p:nvSpPr>
        <p:spPr>
          <a:xfrm>
            <a:off x="3127248" y="483031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5"/>
          <p:cNvSpPr/>
          <p:nvPr/>
        </p:nvSpPr>
        <p:spPr>
          <a:xfrm>
            <a:off x="3127248" y="483031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pic>
        <p:nvPicPr>
          <p:cNvPr id="33" name="Image 5" descr="/home/claude/proj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485775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23360" y="4777740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3017520" y="5312664"/>
            <a:ext cx="6126480" cy="452628"/>
          </a:xfrm>
          <a:prstGeom prst="roundRect">
            <a:avLst>
              <a:gd name="adj" fmla="val 12121"/>
            </a:avLst>
          </a:prstGeom>
          <a:solidFill>
            <a:srgbClr val="21295C"/>
          </a:solidFill>
          <a:ln/>
        </p:spPr>
      </p:sp>
      <p:sp>
        <p:nvSpPr>
          <p:cNvPr id="36" name="Shape 28"/>
          <p:cNvSpPr/>
          <p:nvPr/>
        </p:nvSpPr>
        <p:spPr>
          <a:xfrm>
            <a:off x="3127248" y="536524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29"/>
          <p:cNvSpPr/>
          <p:nvPr/>
        </p:nvSpPr>
        <p:spPr>
          <a:xfrm>
            <a:off x="3127248" y="536524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pic>
        <p:nvPicPr>
          <p:cNvPr id="38" name="Image 6" descr="/home/claude/proj/icons/mediu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5392674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023360" y="5312664"/>
            <a:ext cx="5029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45720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is closest to the end user; Layer 1 is closest to the physical medium.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4572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Mnemonic: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45720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People Seem To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Data Processing"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4572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→ Physical)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LAYER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1: Physical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325880" y="32461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roj/icons/med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350763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20440" y="1463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functions required to transmit a raw bit stream over a physical medium — concerned purely with bits, not their meaning.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520440" y="25146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25146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Representation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0" y="25146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bits (0s and 1s) into electrical or optical signals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30861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30861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26480" y="30861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transmission rate — the number of bits sent per second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20440" y="36576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18" name="Text 15"/>
          <p:cNvSpPr/>
          <p:nvPr/>
        </p:nvSpPr>
        <p:spPr>
          <a:xfrm>
            <a:off x="3749040" y="36576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126480" y="36576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the sender’s and receiver’s clocks at the bit level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20440" y="42291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3749040" y="42291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Configuration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126480" y="42291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devices via a point-to-point or multipoint link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20440" y="48006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24" name="Text 21"/>
          <p:cNvSpPr/>
          <p:nvPr/>
        </p:nvSpPr>
        <p:spPr>
          <a:xfrm>
            <a:off x="3749040" y="48006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Topology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126480" y="48006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devices are arranged — mesh, star, bus, ring, or hybrid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520440" y="5372100"/>
            <a:ext cx="7680960" cy="425196"/>
          </a:xfrm>
          <a:prstGeom prst="roundRect">
            <a:avLst>
              <a:gd name="adj" fmla="val 15054"/>
            </a:avLst>
          </a:prstGeom>
          <a:solidFill>
            <a:srgbClr val="E8F1F5"/>
          </a:solidFill>
          <a:ln/>
        </p:spPr>
      </p:sp>
      <p:sp>
        <p:nvSpPr>
          <p:cNvPr id="27" name="Text 24"/>
          <p:cNvSpPr/>
          <p:nvPr/>
        </p:nvSpPr>
        <p:spPr>
          <a:xfrm>
            <a:off x="3749040" y="5372100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Mode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126480" y="5372100"/>
            <a:ext cx="48463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direction of flow — simplex, half-duplex, or full-duplex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LAYER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2: Data Link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325880" y="32461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roj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350763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20440" y="1463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physical layer’s raw transmission facility into a reliable link; responsible for node-to-node (hop-to-hop) delivery.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520440" y="2514600"/>
            <a:ext cx="7680960" cy="539496"/>
          </a:xfrm>
          <a:prstGeom prst="roundRect">
            <a:avLst>
              <a:gd name="adj" fmla="val 11864"/>
            </a:avLst>
          </a:prstGeom>
          <a:solidFill>
            <a:srgbClr val="E8F1F5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251460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0" y="251460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bit stream from the network layer into manageable frames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3200400"/>
            <a:ext cx="7680960" cy="539496"/>
          </a:xfrm>
          <a:prstGeom prst="roundRect">
            <a:avLst>
              <a:gd name="adj" fmla="val 11864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320040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26480" y="320040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header with sender/receiver physical (MAC) addresses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20440" y="3886200"/>
            <a:ext cx="7680960" cy="539496"/>
          </a:xfrm>
          <a:prstGeom prst="roundRect">
            <a:avLst>
              <a:gd name="adj" fmla="val 11864"/>
            </a:avLst>
          </a:prstGeom>
          <a:solidFill>
            <a:srgbClr val="E8F1F5"/>
          </a:solidFill>
          <a:ln/>
        </p:spPr>
      </p:sp>
      <p:sp>
        <p:nvSpPr>
          <p:cNvPr id="18" name="Text 15"/>
          <p:cNvSpPr/>
          <p:nvPr/>
        </p:nvSpPr>
        <p:spPr>
          <a:xfrm>
            <a:off x="3749040" y="388620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126480" y="388620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fast sender from overwhelming a slower receiver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20440" y="4572000"/>
            <a:ext cx="7680960" cy="539496"/>
          </a:xfrm>
          <a:prstGeom prst="roundRect">
            <a:avLst>
              <a:gd name="adj" fmla="val 11864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3749040" y="457200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Control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126480" y="457200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mechanisms to detect and retransmit damaged or lost frames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20440" y="5257800"/>
            <a:ext cx="7680960" cy="539496"/>
          </a:xfrm>
          <a:prstGeom prst="roundRect">
            <a:avLst>
              <a:gd name="adj" fmla="val 11864"/>
            </a:avLst>
          </a:prstGeom>
          <a:solidFill>
            <a:srgbClr val="E8F1F5"/>
          </a:solidFill>
          <a:ln/>
        </p:spPr>
      </p:sp>
      <p:sp>
        <p:nvSpPr>
          <p:cNvPr id="24" name="Text 21"/>
          <p:cNvSpPr/>
          <p:nvPr/>
        </p:nvSpPr>
        <p:spPr>
          <a:xfrm>
            <a:off x="3749040" y="525780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126480" y="525780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device controls the link at any given time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LAYER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3: Network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325880" y="32461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roj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350763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 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20440" y="1463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the source-to-destination delivery of a packet, possibly across multiple, independent networks (routers/links).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520440" y="2514600"/>
            <a:ext cx="7680960" cy="1568196"/>
          </a:xfrm>
          <a:prstGeom prst="roundRect">
            <a:avLst>
              <a:gd name="adj" fmla="val 4082"/>
            </a:avLst>
          </a:prstGeom>
          <a:solidFill>
            <a:srgbClr val="E8F1F5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2514600"/>
            <a:ext cx="2286000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0" y="2514600"/>
            <a:ext cx="4846320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header with the logical (e.g., IP) addresses of sender &amp; receiver, distinct from physical addresses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4229100"/>
            <a:ext cx="7680960" cy="1568196"/>
          </a:xfrm>
          <a:prstGeom prst="roundRect">
            <a:avLst>
              <a:gd name="adj" fmla="val 4082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4229100"/>
            <a:ext cx="2286000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26480" y="4229100"/>
            <a:ext cx="4846320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independent networks (routers) to form an internetwork, and determines the best path for each packet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LAYER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4: Transport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325880" y="32461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roj/icons/dupl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350763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 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20440" y="1463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process-to-process (program-to-program) delivery of the entire message, ensuring it arrives intact and in order.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520440" y="2514600"/>
            <a:ext cx="7680960" cy="710946"/>
          </a:xfrm>
          <a:prstGeom prst="roundRect">
            <a:avLst>
              <a:gd name="adj" fmla="val 9003"/>
            </a:avLst>
          </a:prstGeom>
          <a:solidFill>
            <a:srgbClr val="E8F1F5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2514600"/>
            <a:ext cx="228600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 Addressing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0" y="2514600"/>
            <a:ext cx="484632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header with a port number to deliver data to the correct process on the destination host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3371850"/>
            <a:ext cx="7680960" cy="710946"/>
          </a:xfrm>
          <a:prstGeom prst="roundRect">
            <a:avLst>
              <a:gd name="adj" fmla="val 9003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3371850"/>
            <a:ext cx="228600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Reassembly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26480" y="3371850"/>
            <a:ext cx="484632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a message into transmittable segments, each numbered for reassembly at the destination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20440" y="4229100"/>
            <a:ext cx="7680960" cy="710946"/>
          </a:xfrm>
          <a:prstGeom prst="roundRect">
            <a:avLst>
              <a:gd name="adj" fmla="val 9003"/>
            </a:avLst>
          </a:prstGeom>
          <a:solidFill>
            <a:srgbClr val="E8F1F5"/>
          </a:solidFill>
          <a:ln/>
        </p:spPr>
      </p:sp>
      <p:sp>
        <p:nvSpPr>
          <p:cNvPr id="18" name="Text 15"/>
          <p:cNvSpPr/>
          <p:nvPr/>
        </p:nvSpPr>
        <p:spPr>
          <a:xfrm>
            <a:off x="3749040" y="4229100"/>
            <a:ext cx="228600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Control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126480" y="4229100"/>
            <a:ext cx="484632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connection-oriented or connectionless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20440" y="5086350"/>
            <a:ext cx="7680960" cy="710946"/>
          </a:xfrm>
          <a:prstGeom prst="roundRect">
            <a:avLst>
              <a:gd name="adj" fmla="val 9003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3749040" y="5086350"/>
            <a:ext cx="228600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Error Control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126480" y="5086350"/>
            <a:ext cx="4846320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end-to-end (source to destination), rather than link-by-link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LAYERS 5, 6 &amp;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Session, Presentation &amp;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29584" cy="457200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18104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proj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0750" y="18342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7744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Layer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" y="303580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89864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control — allows two systems to communicate in half- or full-duplex mode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3232" y="399592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85876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— adds checkpoints into a stream of data for recovery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42816" y="1508760"/>
            <a:ext cx="3529584" cy="457200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1416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0372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/home/claude/proj/icons/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66" y="183428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71416" y="237744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498848" y="303580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289864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— converts between different data representations / encodings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98848" y="399592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385876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decryption — for privacy and security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98848" y="495604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1"/>
          <p:cNvSpPr/>
          <p:nvPr/>
        </p:nvSpPr>
        <p:spPr>
          <a:xfrm>
            <a:off x="4700016" y="481888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— reduces the number of bits to be transmitted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028432" y="1508760"/>
            <a:ext cx="3529584" cy="457200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27" name="Shape 23"/>
          <p:cNvSpPr/>
          <p:nvPr/>
        </p:nvSpPr>
        <p:spPr>
          <a:xfrm>
            <a:off x="8257032" y="17373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8" name="Text 24"/>
          <p:cNvSpPr/>
          <p:nvPr/>
        </p:nvSpPr>
        <p:spPr>
          <a:xfrm>
            <a:off x="825703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10689336" y="16916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0" name="Image 2" descr="/home/claude/proj/icons/win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982" y="1834286"/>
            <a:ext cx="263347" cy="26334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257032" y="237744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284464" y="303580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Text 28"/>
          <p:cNvSpPr/>
          <p:nvPr/>
        </p:nvSpPr>
        <p:spPr>
          <a:xfrm>
            <a:off x="8485632" y="289864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users to access the network via services like e-mail, file transfer, and remote login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284464" y="399592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5" name="Text 30"/>
          <p:cNvSpPr/>
          <p:nvPr/>
        </p:nvSpPr>
        <p:spPr>
          <a:xfrm>
            <a:off x="8485632" y="3858768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user interfaces and support for services such as directories and file/database access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TCP/IP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the Protocol Suite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predates the OSI model. It was developed by DARPA for use in ARPANET, the forerunner of today’s Internet, so it is often called the 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model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Unlike OSI, it is an actual, working protocol suite — not just a reference framework.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model has four layers; a common five-layer version aligns it more closely with OSI by separating the network access layer into physical and data link layers.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16550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roj/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517" y="1769181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92240" y="233172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24323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roj/icons/dupl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517" y="2546421"/>
            <a:ext cx="210678" cy="2106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331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310896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32095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roj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517" y="3323661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3108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(Network)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92240" y="388620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9" name="Shape 14"/>
          <p:cNvSpPr/>
          <p:nvPr/>
        </p:nvSpPr>
        <p:spPr>
          <a:xfrm>
            <a:off x="6629400" y="39867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proj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517" y="4100901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92240" y="466344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9400" y="476402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proj/icons/medi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517" y="4878141"/>
            <a:ext cx="210678" cy="21067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23760" y="4663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492240" y="3886200"/>
            <a:ext cx="4937760" cy="1417320"/>
          </a:xfrm>
          <a:prstGeom prst="roundRect">
            <a:avLst/>
          </a:prstGeom>
          <a:ln w="25400">
            <a:solidFill>
              <a:srgbClr val="F2A541"/>
            </a:solidFill>
            <a:prstDash val="dash"/>
          </a:ln>
        </p:spPr>
      </p:sp>
      <p:sp>
        <p:nvSpPr>
          <p:cNvPr id="27" name="Text 20"/>
          <p:cNvSpPr/>
          <p:nvPr/>
        </p:nvSpPr>
        <p:spPr>
          <a:xfrm>
            <a:off x="6492240" y="5376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combined into a single "Network Access" layer (classic 4-layer view)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TCP/IP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&amp; Key Protocols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73352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roj/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8207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81912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160520" y="1581912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OSI’s session, presentation &amp; application layers; supports process-to-process communication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366760" y="1618488"/>
            <a:ext cx="27889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6184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FTP, SMTP, DNS, Telnet, SNMP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7919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8437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proj/icons/dupl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69" y="299118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52344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160520" y="2752344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end-to-end message delivery, with or without reliability guarantees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366760" y="2788920"/>
            <a:ext cx="27889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03920" y="27889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UDP, SCTP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84962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19" name="Shape 15"/>
          <p:cNvSpPr/>
          <p:nvPr/>
        </p:nvSpPr>
        <p:spPr>
          <a:xfrm>
            <a:off x="658368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proj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" y="416161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922776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160520" y="3922776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logical addressing and routing of packets across networks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8366760" y="3959352"/>
            <a:ext cx="27889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0" y="395935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ICMP, IGMP, ARP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502005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26" name="Shape 21"/>
          <p:cNvSpPr/>
          <p:nvPr/>
        </p:nvSpPr>
        <p:spPr>
          <a:xfrm>
            <a:off x="658368" y="51846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/home/claude/proj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9" y="5332049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5093208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Link / Network Access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4160520" y="5093208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physical transmission of data over the local network medium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8366760" y="5129784"/>
            <a:ext cx="27889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503920" y="512978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PPP, Wi-Fi (802.11), Frame Relay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THROUGH THE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Encapsulation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moves down through the layers at the sender, each layer adds its own header (and sometimes a trailer) — wrapping the data from the layer above.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14600" y="210312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2103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2697480"/>
            <a:ext cx="201168" cy="91440"/>
          </a:xfrm>
          <a:prstGeom prst="downArrow">
            <a:avLst/>
          </a:prstGeom>
          <a:solidFill>
            <a:srgbClr val="D7E4E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163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2816352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2816352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8163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816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3410712"/>
            <a:ext cx="201168" cy="91440"/>
          </a:xfrm>
          <a:prstGeom prst="downArrow">
            <a:avLst/>
          </a:prstGeom>
          <a:solidFill>
            <a:srgbClr val="D7E4E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95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529584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3529584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35295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5295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/ Datagram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4123944"/>
            <a:ext cx="201168" cy="91440"/>
          </a:xfrm>
          <a:prstGeom prst="downArrow">
            <a:avLst/>
          </a:prstGeom>
          <a:solidFill>
            <a:srgbClr val="D7E4E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428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14600" y="4242816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4242816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42428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42428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34640" y="4837176"/>
            <a:ext cx="201168" cy="91440"/>
          </a:xfrm>
          <a:prstGeom prst="downArrow">
            <a:avLst/>
          </a:prstGeom>
          <a:solidFill>
            <a:srgbClr val="D7E4E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9560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514600" y="495604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14600" y="4956048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2514600" y="49560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49560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23774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layer’s header (H1, H2, H3…) carries the control information that layer needs — e.g., the transport header carries port numbers, the network header carries IP addresses.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23760" y="4023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receiver, the reverse process — decapsulation — strips each header away, layer by layer, until the original message is recovered.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vs. TCP/IP — Layer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756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426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9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764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103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(7 layers)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1508760"/>
            <a:ext cx="3566160" cy="1609344"/>
          </a:xfrm>
          <a:prstGeom prst="roundRect">
            <a:avLst>
              <a:gd name="adj" fmla="val 2841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508760"/>
            <a:ext cx="35661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320954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3209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776472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37764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343400"/>
            <a:ext cx="3566160" cy="1042416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343400"/>
            <a:ext cx="3566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(4 layers)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0" y="1746504"/>
            <a:ext cx="4023360" cy="566928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313432"/>
            <a:ext cx="4023360" cy="0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313432"/>
            <a:ext cx="4023360" cy="566928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3447288"/>
            <a:ext cx="4023360" cy="9144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4014216"/>
            <a:ext cx="4023360" cy="9144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4581144"/>
            <a:ext cx="4023360" cy="283464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4864608"/>
            <a:ext cx="4023360" cy="283464"/>
          </a:xfrm>
          <a:prstGeom prst="line">
            <a:avLst/>
          </a:prstGeom>
          <a:noFill/>
          <a:ln w="15875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Similarities &amp; Differences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roj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Similarities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" y="239572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2585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built on the concept of a stack of independent layers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3232" y="33284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19125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comparable Network and Transport layers performing similar roles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" y="42611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412394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assume that packets are switched — a device may use different routes to reach the same destination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3232" y="51937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50566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one model makes the other easier to understand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4630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E8F1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8" name="Image 1" descr="/home/claude/proj/icons/x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82239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0372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291072" y="239572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7"/>
          <p:cNvSpPr/>
          <p:nvPr/>
        </p:nvSpPr>
        <p:spPr>
          <a:xfrm>
            <a:off x="6510528" y="22585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has 7 layers; TCP/IP has 4 (or 5, in the expanded view)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91072" y="321868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19"/>
          <p:cNvSpPr/>
          <p:nvPr/>
        </p:nvSpPr>
        <p:spPr>
          <a:xfrm>
            <a:off x="6510528" y="30815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is a generic, protocol-independent reference model; TCP/IP is an actual, implemented protocol suite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91072" y="404164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1"/>
          <p:cNvSpPr/>
          <p:nvPr/>
        </p:nvSpPr>
        <p:spPr>
          <a:xfrm>
            <a:off x="6510528" y="3904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was developed by ISO; TCP/IP by DARPA, ahead of OSI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91072" y="48646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3"/>
          <p:cNvSpPr/>
          <p:nvPr/>
        </p:nvSpPr>
        <p:spPr>
          <a:xfrm>
            <a:off x="6510528" y="47274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separates session &amp; presentation as distinct layers; TCP/IP folds them into the application layer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291072" y="568756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5"/>
          <p:cNvSpPr/>
          <p:nvPr/>
        </p:nvSpPr>
        <p:spPr>
          <a:xfrm>
            <a:off x="6510528" y="55504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is what the real Internet runs on today; OSI’s protocols never saw wide adoption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&amp; TCP/IP,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proj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tasks are split into independent layers, each with well-defined duties and interfaces.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proj/icons/win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OSI’s 7 layers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Data Link, Network, Transport, Session, Presentation &amp; Application — a complete reference model.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proj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19595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TCP/IP’s layers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Transport, Internet &amp; Network Access — the suite the real Internet actually runs 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proj/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382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wraps data from above with its own header, forming messages, segments, packets, frames &amp; bits.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6" name="Image 4" descr="/home/claude/proj/icons/comp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479" y="43827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is a conceptual reference; TCP/IP is a practical, implemented protocol suite with fewer, broader layers.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1" name="Image 5" descr="/home/claude/proj/icons/ro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3827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routing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assume a packet-switched network where routing decisions can vary per packet.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Books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E8F1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TB1.  A. S. Tanenbaum, N. Feamster &amp; D. J. Wetherall, "Computer Networks," Pearson Education, 6th Edition, 2021.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51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TB2.  Behrouz A. Forouzan, "Data Communications and Networking," 5th Edition, McGraw-Hill Education, 2013.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RB1.  D. E. Comer, "Internetworking with TCP/IP, Volume 1: Principles, Protocols, and Architecture," Pearson, 6th Ed., 2014.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36008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360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RB2.  William Stallings, "Data and Computer Communications," Pearson Education, 11th Edition, 2023.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294376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2943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RB3.  A. Leinwand &amp; B. Pinsky, "Cisco Router Configuration Handbook," 2nd Edition, Cisco Press, 2001.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OSI &amp; TCP/IP Reference 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2026-09-09T02:14:02Z</dcterms:created>
  <dcterms:modified xsi:type="dcterms:W3CDTF">2026-09-09T02:14:02Z</dcterms:modified>
</cp:coreProperties>
</file>