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3.png"/><Relationship Id="rId7" Type="http://schemas.openxmlformats.org/officeDocument/2006/relationships/image" Target="../media/image-8-3.png"/><Relationship Id="rId8" Type="http://schemas.openxmlformats.org/officeDocument/2006/relationships/image" Target="../media/image-8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•  UNIT 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Concepts of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Communication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• Distributed Processing • Line Configuration • Topology • Transmission Mode • Categories of Networks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Textbooks:  TB1 — Tanenbaum, Feamster &amp; Wetherall, "Computer Networks", 6th Ed.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TB2 — Behrouz A. Forouzan, "Data Communications and Networking", 5th 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77393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Communication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effectiveness criteria &amp; network criteria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285292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852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862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095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elements of a communication system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58184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" y="393192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931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885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tasks are split across multiple computers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837176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" y="5010912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5020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Configuration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675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vs. multipoint connections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3096" y="177393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83096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78040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78040" y="2130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Mesh, star, bus, ring &amp; hybrid layouts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2679192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83096" y="285292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483096" y="2852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2862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Mode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32095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Simplex, half-duplex &amp; full-duplex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758184"/>
            <a:ext cx="5440680" cy="877824"/>
          </a:xfrm>
          <a:prstGeom prst="roundRect">
            <a:avLst>
              <a:gd name="adj" fmla="val 10417"/>
            </a:avLst>
          </a:prstGeom>
          <a:solidFill>
            <a:srgbClr val="E8F1F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83096" y="393192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483096" y="3931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78040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Networks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78040" y="42885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LAN, MAN &amp; WAN compared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Communication?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communication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exchange of data between two devices via some form of transmission medium such as a wire cable.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communication to occur, the devices must be part of a communication system made up of a combination of hardware and software.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886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685800" y="5257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effectiveness of a data communication system depends on these four fundamental characteristics — each one shown on the right.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/home/claude/proj/icons/deli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6721" y="1564721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13990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20840" y="169164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delivered to the correct destination — only the intended device or user should receive it.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89320" y="26243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proj/icons/accura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721" y="277172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0840" y="26060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720840" y="289864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delivered accurately; altered data during transmission is unusable.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89320" y="383133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proj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721" y="397873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381304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20840" y="4105656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delivered in a timely manner. Late data is useless (e.g., real-time audio/video).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89320" y="503834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proj/icons/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721" y="5185745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0840" y="50200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720840" y="531266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is the variation in packet arrival time, causing uneven quality in audio/video delivery.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must be evaluated against three essential criteria to be considered effective and useful.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529584" cy="356616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1810512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roj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482" y="25914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832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889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transit time (time for a message to travel) and response time (time between a request and its response). Evaluated using throughput and delay.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42816" y="2057400"/>
            <a:ext cx="3529584" cy="356616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</p:sp>
      <p:sp>
        <p:nvSpPr>
          <p:cNvPr id="11" name="Shape 8"/>
          <p:cNvSpPr/>
          <p:nvPr/>
        </p:nvSpPr>
        <p:spPr>
          <a:xfrm>
            <a:off x="5596128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roj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098" y="259141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1416" y="33832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62856" y="3794760"/>
            <a:ext cx="2889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frequency of failure, the recovery time of a network after a failure, and the network’s robustness in a catastrophe.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28432" y="2057400"/>
            <a:ext cx="3529584" cy="3566160"/>
          </a:xfrm>
          <a:prstGeom prst="roundRect">
            <a:avLst>
              <a:gd name="adj" fmla="val 2591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9381744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roj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714" y="259141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57032" y="33832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48472" y="3794760"/>
            <a:ext cx="2889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 from unauthorized access, damage-proofing data against errors, and implementing policies for recovery from breaches.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DATA 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Elements of a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roj/icons/ms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092" y="155521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89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3000" y="166420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(data) to be communicated. Popular forms include text, numbers, pictures, audio, and video.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roj/icons/s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1555212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389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949440" y="166420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that sends the data message — a computer, workstation, telephone, video camera, and so on.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57200" y="299008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proj/icons/recei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" y="3127980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962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43000" y="3236976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that receives the message — a computer, workstation, telephone, television, and so on.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263640" y="299008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/home/claude/proj/icons/medi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3127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2962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Medium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949440" y="3236976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path by which a message travels from sender to receiver — twisted-pair wire, coaxial cable, fiber-optic cable, or radio waves.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457200" y="456285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4" descr="/home/claude/proj/icons/protoc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92" y="4700748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535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143000" y="4809744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rules that govern data communication; represents an agreement between communicating devices — without it, two devices may be connected but not communicating.</a:t>
            </a:r>
            <a:endParaRPr lang="en-US" sz="108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DATA 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Five Elements Interact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9326880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46504"/>
            <a:ext cx="438912" cy="438912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proj/icons/proto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25" y="1860621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8549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— the agreed set of rules that governs the exchange of data between sender and receiver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1463040" y="2907792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0" name="Image 1" descr="/home/claude/proj/icons/s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461" y="307421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160520" y="2743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3" name="Shape 9"/>
          <p:cNvSpPr/>
          <p:nvPr/>
        </p:nvSpPr>
        <p:spPr>
          <a:xfrm>
            <a:off x="4983480" y="2907792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2" descr="/home/claude/proj/icons/medi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01" y="3074213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6052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680960" y="2743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7" name="Shape 12"/>
          <p:cNvSpPr/>
          <p:nvPr/>
        </p:nvSpPr>
        <p:spPr>
          <a:xfrm>
            <a:off x="8503920" y="2907792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3" descr="/home/claude/proj/icons/recei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341" y="3074213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809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2999232" y="3383280"/>
            <a:ext cx="1088136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1" name="Shape 15"/>
          <p:cNvSpPr/>
          <p:nvPr/>
        </p:nvSpPr>
        <p:spPr>
          <a:xfrm>
            <a:off x="6519672" y="3383280"/>
            <a:ext cx="1088136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2" name="Text 16"/>
          <p:cNvSpPr/>
          <p:nvPr/>
        </p:nvSpPr>
        <p:spPr>
          <a:xfrm>
            <a:off x="2971800" y="3675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0080" y="46177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encodes the message and transmits it across the medium, following the shared protocol, until it is decoded correctly by the receiver.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networks use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 which a task is divided among multiple computers. Instead of a single large machine handling every job for a group, separate, smaller computers—typically one per user—each handle a portion of the task.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9624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72160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encapsulation — a system can be attacked at only one access point, isolating sensitive data on a specific machine.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57200" y="4471416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34340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problem solving — multiple computers working on parts of a problem finish faster than one machine alone.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7200" y="509320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96519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through distributed databases — reduces the catastrophic effect of losing all data at a single site.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571500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58698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processing — one computer can request, and even provide, services from another.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58200" y="233172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0" descr="/home/claude/proj/icons/distrib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2170" y="2545690"/>
            <a:ext cx="395021" cy="395021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1600200"/>
            <a:ext cx="1783080" cy="1143000"/>
          </a:xfrm>
          <a:prstGeom prst="line">
            <a:avLst/>
          </a:prstGeom>
          <a:noFill/>
          <a:ln w="19050">
            <a:solidFill>
              <a:srgbClr val="D7E4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66560" y="1280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/home/claude/proj/icons/s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81" y="1446581"/>
            <a:ext cx="307238" cy="30723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869680" y="1600200"/>
            <a:ext cx="1783080" cy="1143000"/>
          </a:xfrm>
          <a:prstGeom prst="line">
            <a:avLst/>
          </a:prstGeom>
          <a:noFill/>
          <a:ln w="19050">
            <a:solidFill>
              <a:srgbClr val="D7E4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332720" y="1280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/home/claude/proj/icons/sen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141" y="1446581"/>
            <a:ext cx="307238" cy="30723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086600" y="2743200"/>
            <a:ext cx="1783080" cy="1691640"/>
          </a:xfrm>
          <a:prstGeom prst="line">
            <a:avLst/>
          </a:prstGeom>
          <a:noFill/>
          <a:ln w="19050">
            <a:solidFill>
              <a:srgbClr val="D7E4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6656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proj/icons/sen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81" y="4281221"/>
            <a:ext cx="307238" cy="30723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869680" y="2743200"/>
            <a:ext cx="1783080" cy="1691640"/>
          </a:xfrm>
          <a:prstGeom prst="line">
            <a:avLst/>
          </a:prstGeom>
          <a:noFill/>
          <a:ln w="19050">
            <a:solidFill>
              <a:srgbClr val="D7E4E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33272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proj/icons/sen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9141" y="428122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53796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task, shared across independent computers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CONNECTION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configuration refers to the way two or more communication devices attach to a physical link. There are two possible line configurations: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roj/icons/p2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3253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21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Point-to-Point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28803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link is established between exactly two devices. The entire capacity of the link is reserved for transmission between those two devices only.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06908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42062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/home/claude/proj/icons/s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1" y="4372661"/>
            <a:ext cx="307238" cy="30723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703320" y="406908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Shape 10"/>
          <p:cNvSpPr/>
          <p:nvPr/>
        </p:nvSpPr>
        <p:spPr>
          <a:xfrm>
            <a:off x="4023360" y="42062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/home/claude/proj/icons/recei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781" y="4372661"/>
            <a:ext cx="307238" cy="30723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103120" y="4526280"/>
            <a:ext cx="160020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5800" y="53949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microwave / satellite links, remote-control infrared links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35508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8F1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58368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proj/icons/multipo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32531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2221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Multipoint (Multidrop)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583680" y="28803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two specific devices share a single link. The capacity of the channel is shared, either spatially (simultaneous use) or temporally (users take turns).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995160" y="406908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24" name="Shape 18"/>
          <p:cNvSpPr/>
          <p:nvPr/>
        </p:nvSpPr>
        <p:spPr>
          <a:xfrm>
            <a:off x="7269480" y="4187952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5" name="Image 4" descr="/home/claude/proj/icons/sen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014" y="4342486"/>
            <a:ext cx="285293" cy="285293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183880" y="4503420"/>
            <a:ext cx="1417320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183880" y="4503420"/>
            <a:ext cx="1417320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183880" y="4503420"/>
            <a:ext cx="1417320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183880" y="4503420"/>
            <a:ext cx="36576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49640" y="3813048"/>
            <a:ext cx="0" cy="1380744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549640" y="3813048"/>
            <a:ext cx="50292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9052560" y="35570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/home/claude/proj/icons/recei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5697" y="3690153"/>
            <a:ext cx="245791" cy="245791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8549640" y="4503420"/>
            <a:ext cx="50292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052560" y="42473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proj/icons/recei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5697" y="4380525"/>
            <a:ext cx="245791" cy="245791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549640" y="5193792"/>
            <a:ext cx="50292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9052560" y="49377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7" descr="/home/claude/proj/icons/recei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5697" y="5070897"/>
            <a:ext cx="245791" cy="245791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Network Topology?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refers to the physical or logical arrangement of a network — how devices (nodes) and connecting lines (links) are laid out. There are five basic topologies: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24688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roj/icons/m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051" y="26590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1792" y="37947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has a dedicated link to every other device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06624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8F1F5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roj/icons/topolo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475" y="26590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98064" y="3383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71216" y="37947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has a link to a central hub only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56048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5632704" y="24688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roj/icons/b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99" y="26590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47488" y="3383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120640" y="37947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share a single backbone cable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205472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8F1F5"/>
          </a:solidFill>
          <a:ln/>
        </p:spPr>
      </p:sp>
      <p:sp>
        <p:nvSpPr>
          <p:cNvPr id="21" name="Shape 16"/>
          <p:cNvSpPr/>
          <p:nvPr/>
        </p:nvSpPr>
        <p:spPr>
          <a:xfrm>
            <a:off x="7882128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proj/icons/r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323" y="265907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96912" y="3383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370064" y="37947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connects to exactly two neighbors, forming a loop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454896" y="214884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8F1F5"/>
          </a:solidFill>
          <a:ln/>
        </p:spPr>
      </p:sp>
      <p:sp>
        <p:nvSpPr>
          <p:cNvPr id="26" name="Shape 20"/>
          <p:cNvSpPr/>
          <p:nvPr/>
        </p:nvSpPr>
        <p:spPr>
          <a:xfrm>
            <a:off x="10131552" y="24688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4" descr="/home/claude/proj/icons/hyb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47" y="2659075"/>
            <a:ext cx="351130" cy="35113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46336" y="3383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619488" y="379476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 of two or more basic topologies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combines two or more different topologies to form a hybrid topology.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1874520"/>
            <a:ext cx="1478398" cy="1074119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874520"/>
            <a:ext cx="913700" cy="2812081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940" y="1874520"/>
            <a:ext cx="913700" cy="2812081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6242" y="1874520"/>
            <a:ext cx="1478398" cy="1074119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8340" y="2948639"/>
            <a:ext cx="564698" cy="1737961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940" y="2948639"/>
            <a:ext cx="2392099" cy="1737961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6242" y="2948639"/>
            <a:ext cx="2956797" cy="914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940" y="4686601"/>
            <a:ext cx="1827401" cy="914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56242" y="2948639"/>
            <a:ext cx="2392099" cy="1737961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356242" y="2948639"/>
            <a:ext cx="564698" cy="1737961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61848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7006" y="2692607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2308" y="4430569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4908" y="4430569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0210" y="2692607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303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n(n−1)/2 dedicated links for n devices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1463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has a dedicated point-to-point link to every other device in the network. A fully connected mesh with n nodes requires n(n−1)/2 physical links and n−1 I/O ports per device.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350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traffic problems of shared links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0" y="3593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— link failure disables only one connection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35040" y="40782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/ security between devices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45628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fault identification &amp; isolation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154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cabling &amp; I/O port requirements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15400" y="3593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Expensive to install and reconfigure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15400" y="40782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Bulky wiring, hard to maintain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15400" y="45628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suited for small / critical networks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68880" y="3200400"/>
            <a:ext cx="731520" cy="73152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proj/icons/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5184" y="334670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34640" y="2103120"/>
            <a:ext cx="9144" cy="146304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96896" y="1865376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34640" y="3114056"/>
            <a:ext cx="1391434" cy="452104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88330" y="2876312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3566160"/>
            <a:ext cx="859953" cy="1183624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6849" y="4512040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74687" y="3566160"/>
            <a:ext cx="859953" cy="1183624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36943" y="4512040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3206" y="3114056"/>
            <a:ext cx="1391434" cy="452104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05462" y="2876312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5394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/ switch controls all data traffic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35040" y="1463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has a dedicated point-to-point link only to a central controller, usually called a hub. Devices are not directly linked to one another — the hub acts as an exchange, relaying data between them.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0350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350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expensive than mesh (one link/device)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3504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install and reconfigure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35040" y="4169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Robustness — one link failure affects only that device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035040" y="4654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fault identification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9154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154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Depends entirely on the hub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91540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Hub failure brings down the whole network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915400" y="4169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cabling than bus/ring topologies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4023360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788920"/>
            <a:ext cx="0" cy="50292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313432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2788920"/>
            <a:ext cx="0" cy="50292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56816" y="2313432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788920"/>
            <a:ext cx="0" cy="50292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2313432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788920"/>
            <a:ext cx="0" cy="50292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51376" y="2313432"/>
            <a:ext cx="475488" cy="47548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backbone cable (with terminators at each end)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cable acts as a backbone to link all the devices in the network. Nodes connect via drop lines and taps; a signal from any device travels the length of the medium in both directions.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installation; less cabling than mesh/star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Backbone lays out along the shortest path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154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154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reconnection &amp; fault isolation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1540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break in the cable can stop all transmission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15400" y="4169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Signal reflection at taps causes degradation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1965960"/>
            <a:ext cx="1267030" cy="73152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01670" y="2697480"/>
            <a:ext cx="9144" cy="146304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4160520"/>
            <a:ext cx="1267030" cy="73152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7610" y="4160520"/>
            <a:ext cx="1267030" cy="73152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7610" y="2697480"/>
            <a:ext cx="0" cy="146304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67610" y="1965960"/>
            <a:ext cx="1267030" cy="73152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70992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5638" y="244144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5638" y="390448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8608" y="463600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1578" y="390448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1578" y="244144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(repeater) connects to exactly two neighbors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has a dedicated point-to-point link with only the two devices on either side of it. A signal is passed along the ring, in one direction, until it reaches its destination; each device regenerates the signal it receives.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350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Relatively easy to install &amp; reconfigure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 isolation is simplified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1540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Unidirectional traffic; a break can disable the whole 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1540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ring / switch needed for resilience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Topology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topology combines two or more different basic topologies. It is designed to capitalize on the strengths of each while minimizing their individual weaknesses.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large organization might connect several star-topology LANs in different departments to a common bus backbone — combining the star’s manageability with the bus’s efficient backbone.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0" y="1417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clusters joined by a common bus backbone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3977640"/>
            <a:ext cx="4754880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95744" y="3758184"/>
            <a:ext cx="438912" cy="438912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67344" y="3758184"/>
            <a:ext cx="438912" cy="438912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38944" y="3758184"/>
            <a:ext cx="438912" cy="438912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48272" y="2743200"/>
            <a:ext cx="566928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4536" y="256946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743200"/>
            <a:ext cx="9144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41464" y="256946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743200"/>
            <a:ext cx="566928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8392" y="256946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3977640"/>
            <a:ext cx="566928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46136" y="50383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3977640"/>
            <a:ext cx="9144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13064" y="50383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3977640"/>
            <a:ext cx="566928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9992" y="50383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91472" y="2743200"/>
            <a:ext cx="566928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17736" y="256946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2743200"/>
            <a:ext cx="9144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84664" y="256946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0" y="2743200"/>
            <a:ext cx="566928" cy="1234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51592" y="256946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two devices can be one of three types, based on the direction of signal 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0881360" cy="1252728"/>
          </a:xfrm>
          <a:prstGeom prst="roundRect">
            <a:avLst>
              <a:gd name="adj" fmla="val 5839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167128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roj/icons/simpl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034" y="2328794"/>
            <a:ext cx="298460" cy="298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57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0" y="203911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unidirectional — only one device can transmit; the other can only receive. The entire capacity of the channel is used in one direction.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58200" y="203911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keyboards and monitors (keyboard only sends, monitor only receives).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10881360" cy="1252728"/>
          </a:xfrm>
          <a:prstGeom prst="roundRect">
            <a:avLst>
              <a:gd name="adj" fmla="val 5839"/>
            </a:avLst>
          </a:prstGeom>
          <a:solidFill>
            <a:srgbClr val="E8F1F5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358444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proj/icons/dupl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34" y="3746114"/>
            <a:ext cx="298460" cy="298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474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Half-Duplex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0" y="345643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can both transmit and receive, but not at the same time — when one sends, the other can only receive, and vice versa.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458200" y="345643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walkie-talkies, CB (citizens band) radios.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4800600"/>
            <a:ext cx="10881360" cy="1252728"/>
          </a:xfrm>
          <a:prstGeom prst="roundRect">
            <a:avLst>
              <a:gd name="adj" fmla="val 5839"/>
            </a:avLst>
          </a:prstGeom>
          <a:solidFill>
            <a:srgbClr val="E8F1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58368" y="5001768"/>
            <a:ext cx="621792" cy="62179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9" name="Image 2" descr="/home/claude/proj/icons/duple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4" y="5163434"/>
            <a:ext cx="298460" cy="298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892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Full-Duplex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657600" y="487375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devices can transmit and receive simultaneously; the channel capacity is divided (or doubled) to allow signals in both directions at once.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58200" y="487375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telephone networks — both parties can talk and listen at the same time.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Area Network (LAN)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 interconnects devices within a single office, building, or campus, and is normally privately owned by the organization that uses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7004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420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in size, spanning up to a few kilometers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236976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08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rates typically range from a few Mbps to several Gbps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803904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758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share resources — hardware, software, or data — among PCs/workstations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37083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428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uses a single shared or switched medium (e.g., Ethernet)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93776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097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from other networks by size, transmission technology, and topology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155448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8F1F5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0" descr="/home/claude/proj/icons/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8981" y="1995221"/>
            <a:ext cx="307238" cy="30723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58952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Building / Campus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098280" y="320040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92440" y="3474720"/>
            <a:ext cx="1280160" cy="11430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72984" y="4398264"/>
            <a:ext cx="438912" cy="43891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372600" y="3474720"/>
            <a:ext cx="9144" cy="11430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53144" y="4398264"/>
            <a:ext cx="438912" cy="43891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72600" y="3474720"/>
            <a:ext cx="1280160" cy="11430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433304" y="4398264"/>
            <a:ext cx="438912" cy="43891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Metropolitan &amp; Wide Area Networks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roj/icons/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0848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Area Network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5146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with a size between a LAN and a WAN, normally covering an entire city. It may be a single network (e.g., a cable TV network) or connect a number of LANs into a larger network.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95020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822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a private company or a public utility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44622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433425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a city or large campus complex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497433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48463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local telephone company networks, city cable TV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55080" y="146304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E8F1F5"/>
          </a:solidFill>
          <a:ln/>
        </p:spPr>
      </p:sp>
      <p:sp>
        <p:nvSpPr>
          <p:cNvPr id="17" name="Shape 14"/>
          <p:cNvSpPr/>
          <p:nvPr/>
        </p:nvSpPr>
        <p:spPr>
          <a:xfrm>
            <a:off x="658368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1" descr="/home/claude/proj/icons/w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183428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737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269480" y="20848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583680" y="25146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long-distance transmission of data over large geographic areas — a country, a continent, or even the whole world — often using links provided by common carriers.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83680" y="3813048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19"/>
          <p:cNvSpPr/>
          <p:nvPr/>
        </p:nvSpPr>
        <p:spPr>
          <a:xfrm>
            <a:off x="6793992" y="36850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types: switched and point-to-point WANs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83680" y="432511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1"/>
          <p:cNvSpPr/>
          <p:nvPr/>
        </p:nvSpPr>
        <p:spPr>
          <a:xfrm>
            <a:off x="6793992" y="41970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Interconnects intermediate nodes (routers/switches)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583680" y="483717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3"/>
          <p:cNvSpPr/>
          <p:nvPr/>
        </p:nvSpPr>
        <p:spPr>
          <a:xfrm>
            <a:off x="6793992" y="4709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Internet backbone; large corporate networks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&lt; MAN &lt; WAN — as geographic scope grows, ownership shifts from private (LAN) to shared/public infrastructure (WAN).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I — Basic Concepts,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proj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communication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8072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message, sender, receiver, medium &amp; protocol, and is judged by delivery, accuracy, timeliness &amp; jitter.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proj/icons/distrib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479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8072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tasks across smaller, cooperating computers for speed, security, and resilience.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proj/icons/p2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519" y="19595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configuration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8072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connect either point-to-point (dedicated) or multipoint (shared).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3" descr="/home/claude/proj/icons/topolog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3827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Mesh, star, bus, ring &amp; hybrid — each trades off cost, reliability and scalability differently.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89120" y="40233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51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6" name="Image 4" descr="/home/claude/proj/icons/duple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479" y="43827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mode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Simplex, half-duplex, and full-duplex describe the direction of data flow.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251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1" name="Image 5" descr="/home/claude/proj/icons/w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519" y="43827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networks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LAN, MAN and WAN differ mainly by geographic scope and ownership.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Books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E8F1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TB1.  A. S. Tanenbaum, N. Feamster &amp; D. J. Wetherall, "Computer Networks," Pearson Education, 6th Edition, 2021.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51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TB2.  Behrouz A. Forouzan, "Data Communications and Networking," 5th Edition, McGraw-Hill Education, 2013.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Books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0881360" cy="548640"/>
          </a:xfrm>
          <a:prstGeom prst="roundRect">
            <a:avLst>
              <a:gd name="adj" fmla="val 11667"/>
            </a:avLst>
          </a:prstGeom>
          <a:solidFill>
            <a:srgbClr val="E8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77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RB1.  D. E. Comer, "Internetworking with TCP/IP, Volume 1: Principles, Protocols, and Architecture," Pearson, 6th Ed., 2014.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636008"/>
            <a:ext cx="10881360" cy="548640"/>
          </a:xfrm>
          <a:prstGeom prst="roundRect">
            <a:avLst>
              <a:gd name="adj" fmla="val 11667"/>
            </a:avLst>
          </a:prstGeom>
          <a:solidFill>
            <a:srgbClr val="E8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360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RB2.  William Stallings, "Data and Computer Communications," Pearson Education, 11th Edition, 2023.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294376"/>
            <a:ext cx="10881360" cy="548640"/>
          </a:xfrm>
          <a:prstGeom prst="roundRect">
            <a:avLst>
              <a:gd name="adj" fmla="val 11667"/>
            </a:avLst>
          </a:prstGeom>
          <a:solidFill>
            <a:srgbClr val="E8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29437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RB3.  A. Leinwand &amp; B. Pinsky, "Cisco Router Configuration Handbook," 2nd Edition, Cisco Press, 2001.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Basic Concepts of Data Communication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2026-09-06T23:41:08Z</dcterms:created>
  <dcterms:modified xsi:type="dcterms:W3CDTF">2026-09-06T23:41:08Z</dcterms:modified>
</cp:coreProperties>
</file>